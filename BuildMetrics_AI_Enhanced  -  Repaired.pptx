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C0EB9-50A6-4365-80DA-CF93CFA77EE3}" v="1" dt="2026-08-22T14:44:06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281" autoAdjust="0"/>
  </p:normalViewPr>
  <p:slideViewPr>
    <p:cSldViewPr snapToGrid="0" snapToObjects="1">
      <p:cViewPr varScale="1">
        <p:scale>
          <a:sx n="73" d="100"/>
          <a:sy n="73" d="100"/>
        </p:scale>
        <p:origin x="107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>
                <a:latin typeface="Aptos"/>
              </a:defRPr>
            </a:pPr>
            <a:r>
              <a:rPr lang="en-IN"/>
              <a:t>Time Required: Target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in days</c:v>
                </c:pt>
              </c:strCache>
            </c:strRef>
          </c:tx>
          <c:spPr>
            <a:solidFill>
              <a:srgbClr val="EF4444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Manual BOQ</c:v>
                </c:pt>
                <c:pt idx="1">
                  <c:v>AI 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0.01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5E7-422A-A8FA-6F4097265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>
                <a:latin typeface="Aptos"/>
              </a:defRPr>
            </a:pPr>
            <a:r>
              <a:rPr lang="en-IN"/>
              <a:t>Cost Variance: Target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variance (%)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Manual BOQ</c:v>
                </c:pt>
                <c:pt idx="1">
                  <c:v>AI 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233-4975-8383-9344C0933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>
                <a:latin typeface="Aptos"/>
              </a:defRPr>
            </a:pPr>
            <a:r>
              <a:rPr lang="en-IN"/>
              <a:t>Illustrative Model-Output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cost (₹ lakh)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500</c:v>
                </c:pt>
                <c:pt idx="1">
                  <c:v>1000</c:v>
                </c:pt>
                <c:pt idx="2">
                  <c:v>1500</c:v>
                </c:pt>
                <c:pt idx="3">
                  <c:v>2000</c:v>
                </c:pt>
                <c:pt idx="4">
                  <c:v>2500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24</c:v>
                </c:pt>
                <c:pt idx="2">
                  <c:v>35.200000000000003</c:v>
                </c:pt>
                <c:pt idx="3">
                  <c:v>46.8</c:v>
                </c:pt>
                <c:pt idx="4">
                  <c:v>58.1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51-454B-BE98-B4C9A161F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>
                <a:latin typeface="Aptos"/>
              </a:defRPr>
            </a:pPr>
            <a:r>
              <a:rPr lang="en-IN"/>
              <a:t>Illustrative Material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0EA5E9"/>
              </a:solidFill>
            </c:spPr>
            <c:extLst>
              <c:ext xmlns:c16="http://schemas.microsoft.com/office/drawing/2014/chart" uri="{C3380CC4-5D6E-409C-BE32-E72D297353CC}">
                <c16:uniqueId val="{00000001-CD67-4770-8013-229D2FDED326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CD67-4770-8013-229D2FDED326}"/>
              </c:ext>
            </c:extLst>
          </c:dPt>
          <c:dPt>
            <c:idx val="2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5-CD67-4770-8013-229D2FDED326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</c:spPr>
            <c:extLst>
              <c:ext xmlns:c16="http://schemas.microsoft.com/office/drawing/2014/chart" uri="{C3380CC4-5D6E-409C-BE32-E72D297353CC}">
                <c16:uniqueId val="{00000007-CD67-4770-8013-229D2FDED326}"/>
              </c:ext>
            </c:extLst>
          </c:dPt>
          <c:cat>
            <c:strRef>
              <c:f>Sheet1!$A$2:$A$5</c:f>
              <c:strCache>
                <c:ptCount val="4"/>
                <c:pt idx="0">
                  <c:v>Concrete</c:v>
                </c:pt>
                <c:pt idx="1">
                  <c:v>Steel</c:v>
                </c:pt>
                <c:pt idx="2">
                  <c:v>Bricks</c:v>
                </c:pt>
                <c:pt idx="3">
                  <c:v>Mortar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17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67-4770-8013-229D2FDED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03" y="-18288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dirty="0"/>
          </a:p>
        </p:txBody>
      </p:sp>
      <p:sp>
        <p:nvSpPr>
          <p:cNvPr id="3" name="Arc 2"/>
          <p:cNvSpPr/>
          <p:nvPr/>
        </p:nvSpPr>
        <p:spPr>
          <a:xfrm>
            <a:off x="7040880" y="-1097280"/>
            <a:ext cx="5486400" cy="7772400"/>
          </a:xfrm>
          <a:prstGeom prst="arc">
            <a:avLst/>
          </a:prstGeom>
          <a:noFill/>
          <a:ln w="279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7360920" y="-932688"/>
            <a:ext cx="5486400" cy="7772400"/>
          </a:xfrm>
          <a:prstGeom prst="arc">
            <a:avLst/>
          </a:prstGeom>
          <a:noFill/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680960" y="-768096"/>
            <a:ext cx="5486400" cy="7772400"/>
          </a:xfrm>
          <a:prstGeom prst="arc">
            <a:avLst/>
          </a:prstGeom>
          <a:noFill/>
          <a:ln w="279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4472" y="1675638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81" y="1666547"/>
            <a:ext cx="1828800" cy="28931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GNIOT | CSE AI &amp;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2828"/>
            <a:ext cx="6675120" cy="7315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BuildMetrics</a:t>
            </a:r>
            <a:r>
              <a:rPr dirty="0"/>
              <a:t>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81" y="2898648"/>
            <a:ext cx="6035040" cy="10058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2000" b="0">
                <a:solidFill>
                  <a:srgbClr val="38BDF8"/>
                </a:solidFill>
                <a:latin typeface="Aptos"/>
              </a:defRPr>
            </a:pPr>
            <a:r>
              <a:rPr dirty="0"/>
              <a:t>Automated Civil Construction Cost Estimation</a:t>
            </a:r>
            <a:br>
              <a:rPr dirty="0"/>
            </a:br>
            <a:r>
              <a:rPr dirty="0"/>
              <a:t>&amp; Quantity Modeling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557" y="4037076"/>
            <a:ext cx="5303520" cy="6400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rPr dirty="0"/>
              <a:t>A practical bridge between civil engineering quantity surveying and machine-learning-based cost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557" y="4965192"/>
            <a:ext cx="5303520" cy="105156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4965192"/>
            <a:ext cx="9144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2980" y="5052060"/>
            <a:ext cx="438912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394960"/>
            <a:ext cx="4800600" cy="604781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rPr dirty="0"/>
              <a:t>Shambhu Shekhar Sinha</a:t>
            </a:r>
            <a:r>
              <a:rPr lang="en-IN" dirty="0"/>
              <a:t>  (2401321530048)</a:t>
            </a:r>
            <a:r>
              <a:rPr dirty="0"/>
              <a:t>  </a:t>
            </a:r>
            <a:endParaRPr lang="en-IN" dirty="0"/>
          </a:p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rPr dirty="0"/>
              <a:t> Vaibhav Kumar Tiwari  </a:t>
            </a:r>
            <a:r>
              <a:rPr lang="en-IN" dirty="0"/>
              <a:t>(2401321530062)</a:t>
            </a:r>
            <a:r>
              <a:rPr dirty="0"/>
              <a:t> </a:t>
            </a:r>
            <a:endParaRPr lang="en-IN" dirty="0"/>
          </a:p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rPr dirty="0"/>
              <a:t> Rishu Raj</a:t>
            </a:r>
            <a:r>
              <a:rPr lang="en-IN" dirty="0"/>
              <a:t> (2401321530040)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0" y="1417320"/>
            <a:ext cx="4069080" cy="4251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1600200"/>
            <a:ext cx="379476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57400"/>
            <a:ext cx="36118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3D Construction + AI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3611880" cy="27889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Insert a high-quality isometric illustration of a residential building blueprint transforming into a digital cost dashboard. Use navy, cyan and orange lighting. No text, no watermark.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BD5E1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BD5E1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E651C1-63B4-E91D-8BD1-4A19C1BB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5242560" cy="4956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Executive Vision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PROJECT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6400800" cy="7772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2400" b="1">
                <a:solidFill>
                  <a:srgbClr val="0A172A"/>
                </a:solidFill>
                <a:latin typeface="Aptos"/>
              </a:defRPr>
            </a:pPr>
            <a:r>
              <a:t>Transforming civil quantity surveying through automation, predictive analytics and rapid BOQ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577840" cy="2468880"/>
          </a:xfrm>
          <a:prstGeom prst="rect">
            <a:avLst/>
          </a:prstGeom>
          <a:noFill/>
        </p:spPr>
        <p:txBody>
          <a:bodyPr wrap="square" lIns="73152" tIns="36576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Automates concrete, steel, brick and mortar quantity calculations.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Uses Ridge and XGBoost regression for location- and quality-adjusted budgeting.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Generates downloadable PDF BOQs through ReportLab and io.BytesIO.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• Provides interactive cost charts through a Streamlit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234440"/>
            <a:ext cx="4251960" cy="4343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417320"/>
            <a:ext cx="397764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74519"/>
            <a:ext cx="37947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0A172A"/>
                </a:solidFill>
                <a:latin typeface="Aptos"/>
              </a:defRPr>
            </a:pPr>
            <a:r>
              <a:t>Digital Quantity Surveying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468880"/>
            <a:ext cx="3794760" cy="288036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334155"/>
                </a:solidFill>
                <a:latin typeface="Aptos"/>
              </a:defRPr>
            </a:pPr>
            <a:r>
              <a:t>Insert a split-screen image: traditional quantity surveyor with drawings on the left and a modern AI construction dashboard on the right. Professional academic style.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771249-512B-EE3B-1278-EB8C8B6A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10" y="1133856"/>
            <a:ext cx="4807974" cy="4704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The Problem: Slow and Volatile Construction Budgeting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834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91440" cy="1417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627632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8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600200"/>
            <a:ext cx="1920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Manual BOQ Delays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03120"/>
            <a:ext cx="2331720" cy="59436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Manual quantity and BOQ preparation can take 3–7 days per project sheet.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28346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91440" cy="1417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2735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246120"/>
            <a:ext cx="1920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Calculation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749039"/>
            <a:ext cx="2331720" cy="59436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Rebar, concrete and masonry calculations are vulnerable to human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28346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9144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919472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56048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892040"/>
            <a:ext cx="1920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Price Volatility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394960"/>
            <a:ext cx="2331720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Static spreadsheets do not respond well to changing material prices.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931920" y="1325880"/>
          <a:ext cx="3520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7726679" y="1325880"/>
          <a:ext cx="3520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977639" y="5925312"/>
            <a:ext cx="7040880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Aptos"/>
              </a:defRPr>
            </a:pPr>
            <a:r>
              <a:t>Note: AI values are proposed project targets, not experimentally validated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206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91440" cy="1554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719072"/>
            <a:ext cx="438912" cy="43891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91639"/>
            <a:ext cx="4206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Automate Surveying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94560"/>
            <a:ext cx="4617720" cy="7315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Compute concrete, rebar, brick and mortar quantities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51206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1508760"/>
            <a:ext cx="91440" cy="1554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37960" y="1719072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755648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91639"/>
            <a:ext cx="4206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Deploy ML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194560"/>
            <a:ext cx="4617720" cy="7315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Predict total budget using material quality and regional indices.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51206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91440" cy="1554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120" y="386791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904487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40480"/>
            <a:ext cx="4206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Build Accessible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343400"/>
            <a:ext cx="4617720" cy="7315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Provide Streamlit sliders, selectors and Plotly visualizations.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57600"/>
            <a:ext cx="51206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3657600"/>
            <a:ext cx="91440" cy="1554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37960" y="3867912"/>
            <a:ext cx="438912" cy="43891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904487"/>
            <a:ext cx="438912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840480"/>
            <a:ext cx="42062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Export PDF BOQs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343400"/>
            <a:ext cx="4617720" cy="7315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Generate structured BOQ reports in under five seconds.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Proposed Solution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24612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30266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1. Quantity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2971800" cy="7772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IS-456-inspired formulas</a:t>
            </a:r>
            <a:br/>
            <a:r>
              <a:t>Concrete • Steel • Bricks • Mortar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246120" cy="1371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266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2. ML Cost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04872"/>
            <a:ext cx="2971800" cy="7772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Ridge / XGBoost</a:t>
            </a:r>
            <a:br/>
            <a:r>
              <a:t>Quality and location adjustment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74519"/>
            <a:ext cx="324612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7" y="2039112"/>
            <a:ext cx="30266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3. BOQ Export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04872"/>
            <a:ext cx="2971800" cy="7772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ReportLab + io.BytesIO</a:t>
            </a:r>
            <a:br/>
            <a:r>
              <a:t>Downloadable itemized PDF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2560320"/>
            <a:ext cx="457201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2560320"/>
            <a:ext cx="4572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4069080"/>
            <a:ext cx="8503920" cy="1417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4251960"/>
            <a:ext cx="822960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709160"/>
            <a:ext cx="80467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Recommended Visual: Quantity-to-Cost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303520"/>
            <a:ext cx="804672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Insert a clean horizontal infographic showing a building outline, material quantities, AI prediction and a downloadable BOQ report.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BD5E1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BD5E1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0FC3C31-7112-CEE0-EACB-B468D4671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9" y="3471674"/>
            <a:ext cx="10497312" cy="28651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BuildMetrics AI End-to-End Workflow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FLOWCHART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874519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764792"/>
            <a:ext cx="16550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1600199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Area • Floors •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600200"/>
            <a:ext cx="1874519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1764792"/>
            <a:ext cx="16550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30552"/>
            <a:ext cx="1600199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Sliders •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600200"/>
            <a:ext cx="1874519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1764792"/>
            <a:ext cx="16550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Civil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30552"/>
            <a:ext cx="1600199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Concrete • Rebar • Bricks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00200"/>
            <a:ext cx="1874519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33488" y="1764792"/>
            <a:ext cx="16550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130552"/>
            <a:ext cx="1600199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Ridge / XGBoost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600200"/>
            <a:ext cx="1874519" cy="868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73767" y="1764792"/>
            <a:ext cx="165506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130552"/>
            <a:ext cx="1600199" cy="2743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Cost • Charts • BOQ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39" y="2029968"/>
            <a:ext cx="292609" cy="0"/>
          </a:xfrm>
          <a:prstGeom prst="line">
            <a:avLst/>
          </a:prstGeom>
          <a:ln w="2540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17720" y="2029968"/>
            <a:ext cx="292608" cy="0"/>
          </a:xfrm>
          <a:prstGeom prst="line">
            <a:avLst/>
          </a:prstGeom>
          <a:ln w="2540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2029968"/>
            <a:ext cx="292608" cy="0"/>
          </a:xfrm>
          <a:prstGeom prst="line">
            <a:avLst/>
          </a:prstGeom>
          <a:ln w="2540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98280" y="2029968"/>
            <a:ext cx="292608" cy="0"/>
          </a:xfrm>
          <a:prstGeom prst="line">
            <a:avLst/>
          </a:prstGeom>
          <a:ln w="2540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0" y="3794760"/>
            <a:ext cx="22860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52928" y="3959352"/>
            <a:ext cx="206654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SQLite 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325112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projects_log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3794760"/>
            <a:ext cx="22860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2048" y="3959352"/>
            <a:ext cx="2066543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PDF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325112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ReportLab + BytesIO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931920" y="2468880"/>
            <a:ext cx="6446520" cy="1280159"/>
          </a:xfrm>
          <a:prstGeom prst="line">
            <a:avLst/>
          </a:prstGeom>
          <a:ln w="2286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74920" y="4251960"/>
            <a:ext cx="1965960" cy="0"/>
          </a:xfrm>
          <a:prstGeom prst="line">
            <a:avLst/>
          </a:prstGeom>
          <a:ln w="2286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88720" y="5532120"/>
            <a:ext cx="9784080" cy="5029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  <a:latin typeface="Aptos"/>
              </a:defRPr>
            </a:pPr>
            <a:r>
              <a:t>The workflow transforms simple project parameters into a transparent quantity schedule, estimated budget, project history and downloadable BOQ.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System Architecture: Four-Tier Modular Design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463040"/>
            <a:ext cx="6537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463040"/>
            <a:ext cx="91440" cy="8412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1645920"/>
            <a:ext cx="5623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Tier 1 |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148840"/>
            <a:ext cx="6035040" cy="18288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Streamlit Web UI</a:t>
            </a:r>
            <a:br/>
            <a:r>
              <a:t>Inputs • sliders • Plotly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606040"/>
            <a:ext cx="6537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2606040"/>
            <a:ext cx="91440" cy="8412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1872" y="2788920"/>
            <a:ext cx="5623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Tier 2 | Civil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291840"/>
            <a:ext cx="6035040" cy="18288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civil_math.py</a:t>
            </a:r>
            <a:br/>
            <a:r>
              <a:t>Concrete • steel • masonry formulas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749039"/>
            <a:ext cx="6537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3749039"/>
            <a:ext cx="91440" cy="8412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1872" y="3931920"/>
            <a:ext cx="5623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Tier 3 | AI/ML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434840"/>
            <a:ext cx="6035040" cy="18288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cost_engine.py</a:t>
            </a:r>
            <a:br/>
            <a:r>
              <a:t>Joblib • scaling •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92040"/>
            <a:ext cx="6537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4892040"/>
            <a:ext cx="91440" cy="8412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61872" y="5074920"/>
            <a:ext cx="5623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Tier 4 | Data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577840"/>
            <a:ext cx="6035040" cy="18288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SQLite • ReportLab</a:t>
            </a:r>
            <a:br/>
            <a:r>
              <a:t>projects_log • io.BytesIO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463040"/>
            <a:ext cx="324612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645920"/>
            <a:ext cx="297180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03120"/>
            <a:ext cx="27889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0A172A"/>
                </a:solidFill>
                <a:latin typeface="Aptos"/>
              </a:defRPr>
            </a:pPr>
            <a:r>
              <a:t>Layered Architecture Illustration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97480"/>
            <a:ext cx="2788920" cy="30175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334155"/>
                </a:solidFill>
                <a:latin typeface="Aptos"/>
              </a:defRPr>
            </a:pPr>
            <a:r>
              <a:t>Insert a modern four-layer software architecture illustration. Show UI at the top, civil logic below it, ML engine next, and database/PDF export at the bottom. Use connected arrows.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DA6EB1-2DB9-84D8-08FA-E0192A04B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186" y="1234440"/>
            <a:ext cx="4123209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Technical Methodology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212080" cy="42976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91440" cy="4297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IS-456-Inspired Quantity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4709160" cy="34747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Concrete volume:</a:t>
            </a:r>
            <a:br/>
            <a:r>
              <a:t>V = Area × Thickness × Floors</a:t>
            </a:r>
            <a:br/>
            <a:br/>
            <a:r>
              <a:t>Steel weight:</a:t>
            </a:r>
            <a:br/>
            <a:r>
              <a:t>W = V × 1.5% × 7850 kg/m³</a:t>
            </a:r>
            <a:br/>
            <a:br/>
            <a:r>
              <a:t>Brickwork:</a:t>
            </a:r>
            <a:br/>
            <a:r>
              <a:t>Bricks = Perimeter × Height × Factor</a:t>
            </a:r>
            <a:br/>
            <a:br/>
            <a:r>
              <a:t>Dry mortar:</a:t>
            </a:r>
            <a:br/>
            <a:r>
              <a:t>Dry volume = Wet volume × 1.54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212080" cy="42976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91440" cy="4297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64592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ML Serialization and Caching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48840"/>
            <a:ext cx="4709160" cy="34747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• Train Scikit-Learn / XGBoost models offline.</a:t>
            </a:r>
            <a:br/>
            <a:r>
              <a:t>• Serialize the pipeline using joblib.</a:t>
            </a:r>
            <a:br/>
            <a:r>
              <a:t>• Preserve scalers and feature encodings.</a:t>
            </a:r>
            <a:br/>
            <a:r>
              <a:t>• Load the model through Streamlit caching.</a:t>
            </a:r>
            <a:br/>
            <a:r>
              <a:t>• Reduce repeated loading and inference overhead.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BD5E1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BD5E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Illustrative Cost Trend by Built-Up Area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ANALYTICS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417320"/>
          <a:ext cx="64008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55448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554480"/>
            <a:ext cx="91440" cy="1234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1" y="1737360"/>
            <a:ext cx="2834639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500 sq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2240280"/>
            <a:ext cx="32461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Illustrative cost: ₹12.5 lakh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01752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43800" y="3017520"/>
            <a:ext cx="91440" cy="1234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3200400"/>
            <a:ext cx="2834639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1,500 sq 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703320"/>
            <a:ext cx="32461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Illustrative cost: ₹35.2 lakh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48056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43800" y="4480560"/>
            <a:ext cx="91440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4663440"/>
            <a:ext cx="2834639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2,500 sq 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5166360"/>
            <a:ext cx="32461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Illustrative cost: ₹58.1 lakh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16752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Aptos"/>
              </a:defRPr>
            </a:pPr>
            <a:r>
              <a:t>Use this as an illustrative trend unless the values are exported directly from the trained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Material Cost Composition Dashboard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5029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417320"/>
            <a:ext cx="2240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91440" cy="1325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600200"/>
            <a:ext cx="13258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Concrete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103120"/>
            <a:ext cx="1737360" cy="5029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Quantity: m³</a:t>
            </a:r>
            <a:br/>
            <a:r>
              <a:t>Cost share: 42%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17320"/>
            <a:ext cx="2240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91440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1600200"/>
            <a:ext cx="13258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103120"/>
            <a:ext cx="1737360" cy="5029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Quantity: kg</a:t>
            </a:r>
            <a:br/>
            <a:r>
              <a:t>Cost share: 31%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40"/>
            <a:ext cx="2240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91440" cy="13258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3246120"/>
            <a:ext cx="13258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Bricks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749039"/>
            <a:ext cx="1737360" cy="5029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Quantity: units</a:t>
            </a:r>
            <a:br/>
            <a:r>
              <a:t>Cost share: 17%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063240"/>
            <a:ext cx="22402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3063240"/>
            <a:ext cx="91440" cy="13258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3246120"/>
            <a:ext cx="13258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Mortar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749039"/>
            <a:ext cx="1737360" cy="502919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Quantity: m³</a:t>
            </a:r>
            <a:br/>
            <a:r>
              <a:t>Cost share: 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09160"/>
            <a:ext cx="498348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892040"/>
            <a:ext cx="470916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349240"/>
            <a:ext cx="45262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0A172A"/>
                </a:solidFill>
                <a:latin typeface="Aptos"/>
              </a:defRPr>
            </a:pPr>
            <a:r>
              <a:t>Dashboard Screenshot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943600"/>
            <a:ext cx="452628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334155"/>
                </a:solidFill>
                <a:latin typeface="Aptos"/>
              </a:defRPr>
            </a:pPr>
            <a:r>
              <a:t>Replace this box with a screenshot of the Streamlit interface showing sliders, cost cards and a Plotly chart.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Database Architecture and Project Logging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9144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60020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project_id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03120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TEXT PRIMARY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84248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1984248"/>
            <a:ext cx="9144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2167128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670048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DATETIME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551176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2551176"/>
            <a:ext cx="9144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2734056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built_up_area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236976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18104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118104"/>
            <a:ext cx="9144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1" y="3300984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floors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803904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INTEGER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85032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" y="3685032"/>
            <a:ext cx="9144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1" y="3867912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quality_tier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70832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251960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" y="4251960"/>
            <a:ext cx="9144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1" y="443484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calculated_boq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4937760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18888"/>
            <a:ext cx="5394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7240" y="4818888"/>
            <a:ext cx="9144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" y="5001768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predicted_cost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5504688"/>
            <a:ext cx="48920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1417320"/>
            <a:ext cx="416052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1600200"/>
            <a:ext cx="388620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057400"/>
            <a:ext cx="370332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0A172A"/>
                </a:solidFill>
                <a:latin typeface="Aptos"/>
              </a:defRPr>
            </a:pPr>
            <a:r>
              <a:t>SQLite Schema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651760"/>
            <a:ext cx="3703320" cy="28346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334155"/>
                </a:solidFill>
                <a:latin typeface="Aptos"/>
              </a:defRPr>
            </a:pPr>
            <a:r>
              <a:t>Insert a clean database diagram showing projects_log as a table with the seven fields connected to the Streamlit application and the PDF export module.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Export Engine: In-Memory PDF Generation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12080" cy="356616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91440" cy="3566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91639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ReportLab Flowables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94560"/>
            <a:ext cx="4709160" cy="27432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• Paragraphs and formatted headings</a:t>
            </a:r>
            <a:br/>
            <a:r>
              <a:t>• Tables for itemized BOQ entries</a:t>
            </a:r>
            <a:br/>
            <a:r>
              <a:t>• Headers, logos and project metadata</a:t>
            </a:r>
            <a:br/>
            <a:r>
              <a:t>• Consistent professional formatting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212080" cy="356616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91440" cy="3566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691639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io.BytesIO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94560"/>
            <a:ext cx="4709160" cy="27432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• Builds the PDF directly in RAM</a:t>
            </a:r>
            <a:br/>
            <a:r>
              <a:t>• Avoids temporary disk files</a:t>
            </a:r>
            <a:br/>
            <a:r>
              <a:t>• Supports direct browser download</a:t>
            </a:r>
            <a:br/>
            <a:r>
              <a:t>• Designed for fast non-blocking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5349240"/>
            <a:ext cx="6309360" cy="685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40" y="5532120"/>
            <a:ext cx="603504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989320"/>
            <a:ext cx="58521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PDF BOQ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83679"/>
            <a:ext cx="585216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Insert a screenshot of a generated BOQ PDF containing project details, material quantities, unit rates, totals and a professional header.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BD5E1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BD5E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Research Integration and Project Positioning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0292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91440" cy="12344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691639"/>
            <a:ext cx="411480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NLP &amp;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5262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Requirement parsing and spatial planning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508760"/>
            <a:ext cx="50292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79" y="1508760"/>
            <a:ext cx="91440" cy="1234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91639"/>
            <a:ext cx="411480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2D-to-3D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194560"/>
            <a:ext cx="45262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Blueprint detection and parametric reconstruction.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50292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91440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3291840"/>
            <a:ext cx="411480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Deep Takeoff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794760"/>
            <a:ext cx="45262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Room segmentation and material quantification.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108960"/>
            <a:ext cx="50292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55079" y="3108960"/>
            <a:ext cx="91440" cy="1234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3291840"/>
            <a:ext cx="411480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Dynamic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794760"/>
            <a:ext cx="452628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Regression, market adjustment and BOQ alignment.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2000" b="1">
                <a:solidFill>
                  <a:srgbClr val="0A172A"/>
                </a:solidFill>
                <a:latin typeface="Aptos"/>
              </a:defRPr>
            </a:pPr>
            <a:r>
              <a:t>BuildMetrics AI focuses its MVP on fast parametric quantity estimation and construction cost prediction for low-rise residential projects.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5715000"/>
            <a:ext cx="466344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5897880"/>
            <a:ext cx="438912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0EA5E9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6355080"/>
            <a:ext cx="420624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0A172A"/>
                </a:solidFill>
                <a:latin typeface="Aptos"/>
              </a:defRPr>
            </a:pPr>
            <a:r>
              <a:t>Literature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6949440"/>
            <a:ext cx="4206240" cy="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334155"/>
                </a:solidFill>
                <a:latin typeface="Aptos"/>
              </a:defRPr>
            </a:pPr>
            <a:r>
              <a:t>Optional: add a small visual map connecting published methods to the modules adopted in BuildMetrics AI.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Scope, Feasibility and Risk Mitigation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4251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002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• Residential buildings from 1–4 floors</a:t>
            </a:r>
            <a:br/>
            <a:r>
              <a:t>• Standard rectangular plots</a:t>
            </a:r>
            <a:br/>
            <a:r>
              <a:t>• IS-456-based quantity ratios</a:t>
            </a:r>
            <a:br/>
            <a:r>
              <a:t>• Standard and Premium material tiers</a:t>
            </a:r>
            <a:br/>
            <a:r>
              <a:t>• Automated PDF BOQs and SQLite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120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91440" cy="4251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6002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MVP Limits and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• Irregular CAD parsing is excluded</a:t>
            </a:r>
            <a:br/>
            <a:r>
              <a:t>• High-rise buildings are excluded</a:t>
            </a:r>
            <a:br/>
            <a:r>
              <a:t>• Deep-pile geotechnical anomalies are excluded</a:t>
            </a:r>
            <a:br/>
            <a:r>
              <a:t>• Live vendor-price scraping is future work</a:t>
            </a:r>
            <a:br/>
            <a:r>
              <a:t>• Use regional indices, tooltips and lightweight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Team Work Division and Development Roadmap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5204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2011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0020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Shambhu | ML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3017520" cy="11887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Model training, cost_engine.py, Joblib serialization, GitHub management and system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91440" cy="2011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60020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Vaibhav | UI &amp;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103120"/>
            <a:ext cx="3017520" cy="11887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Streamlit dashboard, Plotly charts, SQLite logging and responsiveness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5204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417320"/>
            <a:ext cx="91440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60020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Rishu | Civil &amp;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03120"/>
            <a:ext cx="3017520" cy="11887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Civil quantity formulas, ReportLab PDF generation, BytesIO and documentation.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224028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325112"/>
            <a:ext cx="2020824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Weeks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90872"/>
            <a:ext cx="19659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Foundation + Math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4663440"/>
            <a:ext cx="429768" cy="0"/>
          </a:xfrm>
          <a:prstGeom prst="line">
            <a:avLst/>
          </a:prstGeom>
          <a:ln w="3175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66160" y="4160520"/>
            <a:ext cx="2240280" cy="1005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75887" y="4325112"/>
            <a:ext cx="2020824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Weeks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690872"/>
            <a:ext cx="19659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UI + Database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4663440"/>
            <a:ext cx="429768" cy="0"/>
          </a:xfrm>
          <a:prstGeom prst="line">
            <a:avLst/>
          </a:prstGeom>
          <a:ln w="3175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55079" y="4160520"/>
            <a:ext cx="224028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7" y="4325112"/>
            <a:ext cx="2020824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90872"/>
            <a:ext cx="19659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PDF + Hosting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59" y="4663440"/>
            <a:ext cx="429769" cy="0"/>
          </a:xfrm>
          <a:prstGeom prst="line">
            <a:avLst/>
          </a:prstGeom>
          <a:ln w="31750">
            <a:solidFill>
              <a:srgbClr val="0A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3999" y="4160520"/>
            <a:ext cx="2240280" cy="10058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53727" y="4325112"/>
            <a:ext cx="2020824" cy="2743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4690872"/>
            <a:ext cx="19659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Testing + Deliverables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172A"/>
                </a:solidFill>
                <a:latin typeface="Aptos Display"/>
              </a:defRPr>
            </a:pPr>
            <a:r>
              <a:t>Deliverables and Future Enhancements</a:t>
            </a:r>
          </a:p>
        </p:txBody>
      </p:sp>
      <p:sp>
        <p:nvSpPr>
          <p:cNvPr id="5" name="Arc 4"/>
          <p:cNvSpPr/>
          <p:nvPr/>
        </p:nvSpPr>
        <p:spPr>
          <a:xfrm>
            <a:off x="10287000" y="-548640"/>
            <a:ext cx="2286000" cy="164592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182880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828800" cy="164592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91440" cy="4251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002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Expected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• Deployed Streamlit web application</a:t>
            </a:r>
            <a:br/>
            <a:r>
              <a:t>• Modular Python codebase</a:t>
            </a:r>
            <a:br/>
            <a:r>
              <a:t>• Formal synopsis and architecture diagrams</a:t>
            </a:r>
            <a:br/>
            <a:r>
              <a:t>• SQLite project-history database</a:t>
            </a:r>
            <a:br/>
            <a:r>
              <a:t>• Downloadable PDF BOQ reports</a:t>
            </a:r>
            <a:br/>
            <a:r>
              <a:t>• Testing logs and demonstration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1208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91440" cy="4251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600200"/>
            <a:ext cx="4297680" cy="32004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500" b="1">
                <a:solidFill>
                  <a:srgbClr val="0A172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Aptos"/>
              </a:defRPr>
            </a:pPr>
            <a:r>
              <a:t>• Irregular CAD and blueprint parsing</a:t>
            </a:r>
            <a:br/>
            <a:r>
              <a:t>• Live vendor-price APIs</a:t>
            </a:r>
            <a:br/>
            <a:r>
              <a:t>• BIM/IFC quantity extraction</a:t>
            </a:r>
            <a:br/>
            <a:r>
              <a:t>• Room-level deep-learning takeoff</a:t>
            </a:r>
            <a:br/>
            <a:r>
              <a:t>• Weather and construction-risk prediction</a:t>
            </a:r>
            <a:br/>
            <a:r>
              <a:t>• Interactive 3D building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828800" y="4389120"/>
            <a:ext cx="5486400" cy="2926080"/>
          </a:xfrm>
          <a:prstGeom prst="arc">
            <a:avLst/>
          </a:prstGeom>
          <a:noFill/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-1463040" y="4480559"/>
            <a:ext cx="5486400" cy="2926080"/>
          </a:xfrm>
          <a:prstGeom prst="arc">
            <a:avLst/>
          </a:prstGeom>
          <a:noFill/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-1097280" y="4572000"/>
            <a:ext cx="5486400" cy="2926080"/>
          </a:xfrm>
          <a:prstGeom prst="arc">
            <a:avLst/>
          </a:pr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943600" cy="73152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943600" cy="1554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ptos"/>
              </a:defRPr>
            </a:pPr>
            <a:r>
              <a:t>BuildMetrics AI</a:t>
            </a:r>
            <a:br/>
            <a:r>
              <a:t>Automated Construction Cost Estimation</a:t>
            </a:r>
            <a:br/>
            <a:r>
              <a:t>&amp; Quantity Modeling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Aptos"/>
              </a:defRPr>
            </a:pPr>
            <a:r>
              <a:t>Questions and faculty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402336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417320"/>
            <a:ext cx="3749040" cy="22860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Aptos"/>
              </a:defRPr>
            </a:pPr>
            <a:r>
              <a:t>IMAGE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874519"/>
            <a:ext cx="3566160" cy="41148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Final Project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68880"/>
            <a:ext cx="3566160" cy="2651760"/>
          </a:xfrm>
          <a:prstGeom prst="rect">
            <a:avLst/>
          </a:prstGeom>
          <a:noFill/>
        </p:spPr>
        <p:txBody>
          <a:bodyPr wrap="square" lIns="45720" tIns="27432" rIns="45720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Insert a premium isometric image of a completed low-rise residential building surrounded by blueprint lines, data points and a subtle AI network overlay. Navy and cyan color palette.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BD5E1"/>
                </a:solidFill>
                <a:latin typeface="Aptos"/>
              </a:defRPr>
            </a:pPr>
            <a:r>
              <a:t>BuildMetrics AI  |  Automated Construction Cost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BD5E1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1483</Words>
  <Application>Microsoft Office PowerPoint</Application>
  <PresentationFormat>Widescreen</PresentationFormat>
  <Paragraphs>237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Shambhu Shekhar Sinha</dc:creator>
  <cp:keywords/>
  <dc:description>generated using python-pptx</dc:description>
  <cp:lastModifiedBy>Shambhu Shekhar Sinha</cp:lastModifiedBy>
  <cp:revision>3</cp:revision>
  <dcterms:created xsi:type="dcterms:W3CDTF">2013-01-27T09:14:16Z</dcterms:created>
  <dcterms:modified xsi:type="dcterms:W3CDTF">2026-08-22T14:44:06Z</dcterms:modified>
  <cp:category/>
</cp:coreProperties>
</file>